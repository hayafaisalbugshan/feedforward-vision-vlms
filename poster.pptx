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EE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1234440"/>
          </a:xfrm>
          <a:prstGeom prst="rect">
            <a:avLst/>
          </a:prstGeom>
          <a:solidFill>
            <a:srgbClr val="3A5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7772400" cy="50292"/>
          </a:xfrm>
          <a:prstGeom prst="rect">
            <a:avLst/>
          </a:prstGeom>
          <a:solidFill>
            <a:srgbClr val="BE9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4008"/>
            <a:ext cx="7315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Do VLMs Have Human-Like Vision, or Just Pattern Matching?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217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B9D5BE"/>
                </a:solidFill>
              </a:rPr>
              <a:t>Motivation  •  Background  •  Hypothesis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765792"/>
            <a:ext cx="7772400" cy="292608"/>
          </a:xfrm>
          <a:prstGeom prst="rect">
            <a:avLst/>
          </a:prstGeom>
          <a:solidFill>
            <a:srgbClr val="3A5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978408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B9D5BE"/>
                </a:solidFill>
              </a:rPr>
              <a:t>Haya Bugshan  •  Mohammad Essa  •  CPSY 1950: Deep Learning in Brains, Minds &amp; Machines  •  Brown University  •  Spring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12748"/>
            <a:ext cx="722376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3A5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12748"/>
            <a:ext cx="7223760" cy="347472"/>
          </a:xfrm>
          <a:prstGeom prst="rect">
            <a:avLst/>
          </a:prstGeom>
          <a:solidFill>
            <a:srgbClr val="5F8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12748"/>
            <a:ext cx="50292" cy="347472"/>
          </a:xfrm>
          <a:prstGeom prst="rect">
            <a:avLst/>
          </a:prstGeom>
          <a:solidFill>
            <a:srgbClr val="BE9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1458468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THE COGNITIVE PHENOMENON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897380"/>
            <a:ext cx="6949440" cy="216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121212"/>
                </a:solidFill>
              </a:rPr>
              <a:t>• Human object recognition involves two dissociable processing stages (Riddoch &amp; Humphreys, 1987):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5A5A5A"/>
                </a:solidFill>
              </a:rPr>
              <a:t>   ◦ Apperceptive stage — the brain performs global form completion, assembling a coherent percept from raw visual input before any meaning is accessed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5A5A5A"/>
                </a:solidFill>
              </a:rPr>
              <a:t>   ◦ Associative stage — the completed percept is matched to stored semantic knowledge to yield recognition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21212"/>
                </a:solidFill>
              </a:rPr>
              <a:t>• These stages can break independently (visual agnosia). Apperceptive patients cannot form percepts from degraded input; associative patients form percepts but cannot access meaning.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21212"/>
                </a:solidFill>
              </a:rPr>
              <a:t>• Mooney (two-tone) images isolate the apperceptive stage — objects are invisible until the visual system commits to a global form hypothesis. Language cannot help before the percept forms.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21212"/>
                </a:solidFill>
              </a:rPr>
              <a:t>• Degraded line drawings allow bottom-up feature matching without requiring global completion — the apperceptive stage is partially bypassed.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192524"/>
            <a:ext cx="722376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A5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4192524"/>
            <a:ext cx="7223760" cy="347472"/>
          </a:xfrm>
          <a:prstGeom prst="rect">
            <a:avLst/>
          </a:prstGeom>
          <a:solidFill>
            <a:srgbClr val="5F8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192524"/>
            <a:ext cx="50292" cy="347472"/>
          </a:xfrm>
          <a:prstGeom prst="rect">
            <a:avLst/>
          </a:prstGeom>
          <a:solidFill>
            <a:srgbClr val="BE9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" y="4238244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WHY TEST THIS ON VLMs?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677156"/>
            <a:ext cx="694944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121212"/>
                </a:solidFill>
              </a:rPr>
              <a:t>• Marjieh et al. (2023): adding visual input to GPT-4 does not improve perceptual similarity judgments — suggesting VLM vision may not add genuine perceptual grounding beyond language.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21212"/>
                </a:solidFill>
              </a:rPr>
              <a:t>• If VLMs process vision through language-mediated feature matching (skipping the apperceptive stage), Mooney images should specifically expose that gap.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21212"/>
                </a:solidFill>
              </a:rPr>
              <a:t>• This tests Marjieh's null result at the algorithmic level (Marr Level 2) — asking which processing stage breaks, not just measuring representational geometry.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6149340"/>
            <a:ext cx="7223760" cy="3488436"/>
          </a:xfrm>
          <a:prstGeom prst="rect">
            <a:avLst/>
          </a:prstGeom>
          <a:solidFill>
            <a:srgbClr val="FFFFFF"/>
          </a:solidFill>
          <a:ln w="19050">
            <a:solidFill>
              <a:srgbClr val="3A5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6149340"/>
            <a:ext cx="7223760" cy="347472"/>
          </a:xfrm>
          <a:prstGeom prst="rect">
            <a:avLst/>
          </a:prstGeom>
          <a:solidFill>
            <a:srgbClr val="5F8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6149340"/>
            <a:ext cx="50292" cy="347472"/>
          </a:xfrm>
          <a:prstGeom prst="rect">
            <a:avLst/>
          </a:prstGeom>
          <a:solidFill>
            <a:srgbClr val="BE9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" y="6195060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HYPOTHESIS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6633972"/>
            <a:ext cx="6949440" cy="2866644"/>
          </a:xfrm>
          <a:prstGeom prst="rect">
            <a:avLst/>
          </a:prstGeom>
          <a:solidFill>
            <a:srgbClr val="B9D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" y="6761988"/>
            <a:ext cx="6766560" cy="2702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1C3021"/>
                </a:solidFill>
              </a:rPr>
              <a:t>VLMs will show higher accuracy on degraded line drawings than on Mooney images, reflecting a selective deficit at the apperceptive (global form completion) stage.
If confirmed: VLM vision is texture/feature-based rather than genuinely perceptual — a behavioral-level mechanism for Marjieh et al.'s finding that visual input does not add perceptual structure beyond what language already encodes.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EE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1234440"/>
          </a:xfrm>
          <a:prstGeom prst="rect">
            <a:avLst/>
          </a:prstGeom>
          <a:solidFill>
            <a:srgbClr val="3A5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7772400" cy="50292"/>
          </a:xfrm>
          <a:prstGeom prst="rect">
            <a:avLst/>
          </a:prstGeom>
          <a:solidFill>
            <a:srgbClr val="BE9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4008"/>
            <a:ext cx="7315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217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B9D5BE"/>
                </a:solidFill>
              </a:rPr>
              <a:t>Task design  •  Stimuli  •  Models  •  Prompting  •  Confound control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765792"/>
            <a:ext cx="7772400" cy="292608"/>
          </a:xfrm>
          <a:prstGeom prst="rect">
            <a:avLst/>
          </a:prstGeom>
          <a:solidFill>
            <a:srgbClr val="3A5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978408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B9D5BE"/>
                </a:solidFill>
              </a:rPr>
              <a:t>Haya Bugshan  •  Mohammad Essa  •  CPSY 1950: Deep Learning in Brains, Minds &amp; Machines  •  Brown University  •  Spring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12748"/>
            <a:ext cx="722376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3A5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12748"/>
            <a:ext cx="7223760" cy="347472"/>
          </a:xfrm>
          <a:prstGeom prst="rect">
            <a:avLst/>
          </a:prstGeom>
          <a:solidFill>
            <a:srgbClr val="5F8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12748"/>
            <a:ext cx="50292" cy="347472"/>
          </a:xfrm>
          <a:prstGeom prst="rect">
            <a:avLst/>
          </a:prstGeom>
          <a:solidFill>
            <a:srgbClr val="BE9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1458468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STIMULI  (161 matched pairs)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897380"/>
            <a:ext cx="6949440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121212"/>
                </a:solidFill>
              </a:rPr>
              <a:t>• Base set: Snodgrass &amp; Vanderwart (1980) standardized line drawings — 161 common objects (Rossion &amp; Pourtois, 2004 version)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21212"/>
                </a:solidFill>
              </a:rPr>
              <a:t>• Degraded condition: 50% of dark line pixels randomly removed (NumPy random seed = 42). Partial features preserved; bottom-up matching possible.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21212"/>
                </a:solidFill>
              </a:rPr>
              <a:t>• Mooney condition: Gaussian blur (σ = 3) applied, then binary threshold at pixel value 128 → pure black/white blobs. No legible edges or parts; global form completion required.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21212"/>
                </a:solidFill>
              </a:rPr>
              <a:t>• Each object appears in both conditions — perfectly matched pairs eliminate object-level confounds.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72484"/>
            <a:ext cx="722376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3A5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872484"/>
            <a:ext cx="7223760" cy="347472"/>
          </a:xfrm>
          <a:prstGeom prst="rect">
            <a:avLst/>
          </a:prstGeom>
          <a:solidFill>
            <a:srgbClr val="5F8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872484"/>
            <a:ext cx="50292" cy="347472"/>
          </a:xfrm>
          <a:prstGeom prst="rect">
            <a:avLst/>
          </a:prstGeom>
          <a:solidFill>
            <a:srgbClr val="BE9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" y="3918204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STIMULUS EXAMPLES  (degraded left, mooney right per pair)</a:t>
            </a:r>
          </a:p>
        </p:txBody>
      </p:sp>
      <p:pic>
        <p:nvPicPr>
          <p:cNvPr id="18" name="Picture 17" descr="go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4238244"/>
            <a:ext cx="832104" cy="1179576"/>
          </a:xfrm>
          <a:prstGeom prst="rect">
            <a:avLst/>
          </a:prstGeom>
        </p:spPr>
      </p:pic>
      <p:pic>
        <p:nvPicPr>
          <p:cNvPr id="19" name="Picture 18" descr="go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4238244"/>
            <a:ext cx="832104" cy="11795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5436108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C3021"/>
                </a:solidFill>
              </a:rPr>
              <a:t>goat</a:t>
            </a:r>
          </a:p>
        </p:txBody>
      </p:sp>
      <p:pic>
        <p:nvPicPr>
          <p:cNvPr id="21" name="Picture 20" descr="fr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7128" y="4238244"/>
            <a:ext cx="832104" cy="1179576"/>
          </a:xfrm>
          <a:prstGeom prst="rect">
            <a:avLst/>
          </a:prstGeom>
        </p:spPr>
      </p:pic>
      <p:pic>
        <p:nvPicPr>
          <p:cNvPr id="22" name="Picture 21" descr="fro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5808" y="4238244"/>
            <a:ext cx="832104" cy="117957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148840" y="5436108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C3021"/>
                </a:solidFill>
              </a:rPr>
              <a:t>frog</a:t>
            </a:r>
          </a:p>
        </p:txBody>
      </p:sp>
      <p:pic>
        <p:nvPicPr>
          <p:cNvPr id="24" name="Picture 23" descr="giraff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4488" y="4238244"/>
            <a:ext cx="832104" cy="1179576"/>
          </a:xfrm>
          <a:prstGeom prst="rect">
            <a:avLst/>
          </a:prstGeom>
        </p:spPr>
      </p:pic>
      <p:pic>
        <p:nvPicPr>
          <p:cNvPr id="25" name="Picture 24" descr="giraff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3168" y="4238244"/>
            <a:ext cx="832104" cy="117957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886200" y="5436108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C3021"/>
                </a:solidFill>
              </a:rPr>
              <a:t>giraffe</a:t>
            </a:r>
          </a:p>
        </p:txBody>
      </p:sp>
      <p:pic>
        <p:nvPicPr>
          <p:cNvPr id="27" name="Picture 26" descr="glass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41848" y="4238244"/>
            <a:ext cx="832104" cy="1179576"/>
          </a:xfrm>
          <a:prstGeom prst="rect">
            <a:avLst/>
          </a:prstGeom>
        </p:spPr>
      </p:pic>
      <p:pic>
        <p:nvPicPr>
          <p:cNvPr id="28" name="Picture 27" descr="glasse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0528" y="4238244"/>
            <a:ext cx="832104" cy="117957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623560" y="5436108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C3021"/>
                </a:solidFill>
              </a:rPr>
              <a:t>glasses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920740"/>
            <a:ext cx="722376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3A5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5920740"/>
            <a:ext cx="7223760" cy="347472"/>
          </a:xfrm>
          <a:prstGeom prst="rect">
            <a:avLst/>
          </a:prstGeom>
          <a:solidFill>
            <a:srgbClr val="5F8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5920740"/>
            <a:ext cx="50292" cy="347472"/>
          </a:xfrm>
          <a:prstGeom prst="rect">
            <a:avLst/>
          </a:prstGeom>
          <a:solidFill>
            <a:srgbClr val="BE9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2336" y="5966460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MODELS &amp; PROMPTING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405372"/>
            <a:ext cx="694944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121212"/>
                </a:solidFill>
              </a:rPr>
              <a:t>• Models: gemini-3-flash-preview (open-weight, current results); claude-sonnet-4-5 &amp; gemini-2.5-pro (frontier, pending after April 5)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21212"/>
                </a:solidFill>
              </a:rPr>
              <a:t>• System prompt: "Respond with only the name of the object you see — a single word or short noun phrase. Do not describe the image."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21212"/>
                </a:solidFill>
              </a:rPr>
              <a:t>• User prompt: "What object is in this image?"  —  identical across all conditions and models (no chain-of-thought, reasoning_effort=None)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21212"/>
                </a:solidFill>
              </a:rPr>
              <a:t>• Scoring: correct if true object label appears as a case-insensitive substring of the model response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7786116"/>
            <a:ext cx="7223760" cy="1851660"/>
          </a:xfrm>
          <a:prstGeom prst="rect">
            <a:avLst/>
          </a:prstGeom>
          <a:solidFill>
            <a:srgbClr val="FFFFFF"/>
          </a:solidFill>
          <a:ln w="19050">
            <a:solidFill>
              <a:srgbClr val="3A5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7786116"/>
            <a:ext cx="7223760" cy="347472"/>
          </a:xfrm>
          <a:prstGeom prst="rect">
            <a:avLst/>
          </a:prstGeom>
          <a:solidFill>
            <a:srgbClr val="5F8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7786116"/>
            <a:ext cx="50292" cy="347472"/>
          </a:xfrm>
          <a:prstGeom prst="rect">
            <a:avLst/>
          </a:prstGeom>
          <a:solidFill>
            <a:srgbClr val="BE9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2336" y="7831836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CONFOUND CONTROL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8270748"/>
            <a:ext cx="6949440" cy="1367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121212"/>
                </a:solidFill>
              </a:rPr>
              <a:t>• Same 161 objects in both conditions — eliminates object-level confounds between Mooney and degraded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21212"/>
                </a:solidFill>
              </a:rPr>
              <a:t>• Identical prompt wording and structure across all models — eliminates autoregressive framing artifacts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21212"/>
                </a:solidFill>
              </a:rPr>
              <a:t>• Fixed random seed (42) for pixel removal — degradation is reproducible across runs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21212"/>
                </a:solidFill>
              </a:rPr>
              <a:t>• No chain-of-thought used — consistent prompting strategy prevents CoT-related distribution shift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21212"/>
                </a:solidFill>
              </a:rPr>
              <a:t>• Limitation acknowledged: human baseline from Snodgrass &amp; Corwin (1988) uses a different fragmentation paradigm — not directly comparable; treated as approximate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EE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1234440"/>
          </a:xfrm>
          <a:prstGeom prst="rect">
            <a:avLst/>
          </a:prstGeom>
          <a:solidFill>
            <a:srgbClr val="3A5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7772400" cy="50292"/>
          </a:xfrm>
          <a:prstGeom prst="rect">
            <a:avLst/>
          </a:prstGeom>
          <a:solidFill>
            <a:srgbClr val="BE9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4008"/>
            <a:ext cx="7315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217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B9D5BE"/>
                </a:solidFill>
              </a:rPr>
              <a:t>gemini-3-flash-preview  •  161 objects  •  Mooney vs. Degraded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765792"/>
            <a:ext cx="7772400" cy="292608"/>
          </a:xfrm>
          <a:prstGeom prst="rect">
            <a:avLst/>
          </a:prstGeom>
          <a:solidFill>
            <a:srgbClr val="3A5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978408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B9D5BE"/>
                </a:solidFill>
              </a:rPr>
              <a:t>Haya Bugshan  •  Mohammad Essa  •  CPSY 1950: Deep Learning in Brains, Minds &amp; Machines  •  Brown University  •  Spring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12748"/>
            <a:ext cx="722376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3A5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12748"/>
            <a:ext cx="7223760" cy="347472"/>
          </a:xfrm>
          <a:prstGeom prst="rect">
            <a:avLst/>
          </a:prstGeom>
          <a:solidFill>
            <a:srgbClr val="5F8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12748"/>
            <a:ext cx="50292" cy="347472"/>
          </a:xfrm>
          <a:prstGeom prst="rect">
            <a:avLst/>
          </a:prstGeom>
          <a:solidFill>
            <a:srgbClr val="BE9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1458468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ACCURACY BY CONDITION  —  VLM vs. Human Benchmark</a:t>
            </a:r>
          </a:p>
        </p:txBody>
      </p:sp>
      <p:pic>
        <p:nvPicPr>
          <p:cNvPr id="13" name="Picture 12" descr="accuracy_with_human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33372"/>
            <a:ext cx="6949440" cy="416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1480" y="6048756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</a:rPr>
              <a:t>Figure 1. Proportion correct for gemini-3-flash-preview on Mooney (blue) vs. degraded (orange) conditions. Dashed lines = approximate human benchmarks from Snodgrass &amp; Corwin (1988): ~34% Mooney, ~50% degraded. Human baselines reflect a different fragmentation paradigm — treat as approximate.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6844284"/>
            <a:ext cx="722376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3A5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6844284"/>
            <a:ext cx="7223760" cy="347472"/>
          </a:xfrm>
          <a:prstGeom prst="rect">
            <a:avLst/>
          </a:prstGeom>
          <a:solidFill>
            <a:srgbClr val="5F8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6844284"/>
            <a:ext cx="50292" cy="347472"/>
          </a:xfrm>
          <a:prstGeom prst="rect">
            <a:avLst/>
          </a:prstGeom>
          <a:solidFill>
            <a:srgbClr val="BE9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" y="6890004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7328916"/>
            <a:ext cx="694944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121212"/>
                </a:solidFill>
              </a:rPr>
              <a:t>• gemini-3-flash-preview: 65% correct on Mooney images, 85% correct on degraded drawings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21212"/>
                </a:solidFill>
              </a:rPr>
              <a:t>• Expected dissociation present: degraded &gt; Mooney — same direction as humans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21212"/>
                </a:solidFill>
              </a:rPr>
              <a:t>• 20 pt VLM gap (degraded vs. Mooney) mirrors ~16 pt human dissociation — same processing bottleneck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21212"/>
                </a:solidFill>
              </a:rPr>
              <a:t>• VLM Mooney accuracy exceeds human benchmark (~34%) — likely because line-drawing Mooneys are less ambiguous than photograph-based stimuli; see limitations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8892540"/>
            <a:ext cx="7223760" cy="745236"/>
          </a:xfrm>
          <a:prstGeom prst="rect">
            <a:avLst/>
          </a:prstGeom>
          <a:solidFill>
            <a:srgbClr val="FFFFFF"/>
          </a:solidFill>
          <a:ln w="19050">
            <a:solidFill>
              <a:srgbClr val="3A5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8892540"/>
            <a:ext cx="7223760" cy="347472"/>
          </a:xfrm>
          <a:prstGeom prst="rect">
            <a:avLst/>
          </a:prstGeom>
          <a:solidFill>
            <a:srgbClr val="5F8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8892540"/>
            <a:ext cx="50292" cy="347472"/>
          </a:xfrm>
          <a:prstGeom prst="rect">
            <a:avLst/>
          </a:prstGeom>
          <a:solidFill>
            <a:srgbClr val="BE9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6" y="8938260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SUMMARY 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9240012"/>
            <a:ext cx="2362809" cy="65151"/>
          </a:xfrm>
          <a:prstGeom prst="rect">
            <a:avLst/>
          </a:prstGeom>
          <a:solidFill>
            <a:srgbClr val="5F8567"/>
          </a:solidFill>
          <a:ln w="6350">
            <a:solidFill>
              <a:srgbClr val="5F8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9294876"/>
            <a:ext cx="2271369" cy="-80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Condition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74289" y="9240012"/>
            <a:ext cx="1389888" cy="65151"/>
          </a:xfrm>
          <a:prstGeom prst="rect">
            <a:avLst/>
          </a:prstGeom>
          <a:solidFill>
            <a:srgbClr val="5F8567"/>
          </a:solidFill>
          <a:ln w="6350">
            <a:solidFill>
              <a:srgbClr val="5F8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8297" y="9294876"/>
            <a:ext cx="1298448" cy="-80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VLM Accuracy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4177" y="9240012"/>
            <a:ext cx="1528876" cy="65151"/>
          </a:xfrm>
          <a:prstGeom prst="rect">
            <a:avLst/>
          </a:prstGeom>
          <a:solidFill>
            <a:srgbClr val="5F8567"/>
          </a:solidFill>
          <a:ln w="6350">
            <a:solidFill>
              <a:srgbClr val="5F8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28185" y="9294876"/>
            <a:ext cx="1437436" cy="-80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Human Baseline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93054" y="9240012"/>
            <a:ext cx="1667865" cy="65151"/>
          </a:xfrm>
          <a:prstGeom prst="rect">
            <a:avLst/>
          </a:prstGeom>
          <a:solidFill>
            <a:srgbClr val="5F8567"/>
          </a:solidFill>
          <a:ln w="6350">
            <a:solidFill>
              <a:srgbClr val="5F8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57062" y="9294876"/>
            <a:ext cx="1576425" cy="-80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Direction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9305163"/>
            <a:ext cx="2362809" cy="65151"/>
          </a:xfrm>
          <a:prstGeom prst="rect">
            <a:avLst/>
          </a:prstGeom>
          <a:solidFill>
            <a:srgbClr val="FFFFFF"/>
          </a:solidFill>
          <a:ln w="6350">
            <a:solidFill>
              <a:srgbClr val="5F8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9360027"/>
            <a:ext cx="2271369" cy="-80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21212"/>
                </a:solidFill>
              </a:rPr>
              <a:t>Degraded drawings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74289" y="9305163"/>
            <a:ext cx="1389888" cy="65151"/>
          </a:xfrm>
          <a:prstGeom prst="rect">
            <a:avLst/>
          </a:prstGeom>
          <a:solidFill>
            <a:srgbClr val="FFFFFF"/>
          </a:solidFill>
          <a:ln w="6350">
            <a:solidFill>
              <a:srgbClr val="5F8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8297" y="9360027"/>
            <a:ext cx="1298448" cy="-80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21212"/>
                </a:solidFill>
              </a:rPr>
              <a:t>85%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64177" y="9305163"/>
            <a:ext cx="1528876" cy="65151"/>
          </a:xfrm>
          <a:prstGeom prst="rect">
            <a:avLst/>
          </a:prstGeom>
          <a:solidFill>
            <a:srgbClr val="FFFFFF"/>
          </a:solidFill>
          <a:ln w="6350">
            <a:solidFill>
              <a:srgbClr val="5F8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28185" y="9360027"/>
            <a:ext cx="1437436" cy="-80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21212"/>
                </a:solidFill>
              </a:rPr>
              <a:t>~35–63%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93054" y="9305163"/>
            <a:ext cx="1667865" cy="65151"/>
          </a:xfrm>
          <a:prstGeom prst="rect">
            <a:avLst/>
          </a:prstGeom>
          <a:solidFill>
            <a:srgbClr val="FFFFFF"/>
          </a:solidFill>
          <a:ln w="6350">
            <a:solidFill>
              <a:srgbClr val="5F8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57062" y="9360027"/>
            <a:ext cx="1576425" cy="-80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21212"/>
                </a:solidFill>
              </a:rPr>
              <a:t>VLM &gt; Human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9370314"/>
            <a:ext cx="2362809" cy="65151"/>
          </a:xfrm>
          <a:prstGeom prst="rect">
            <a:avLst/>
          </a:prstGeom>
          <a:solidFill>
            <a:srgbClr val="B9D5BE"/>
          </a:solidFill>
          <a:ln w="6350">
            <a:solidFill>
              <a:srgbClr val="5F8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" y="9425178"/>
            <a:ext cx="2271369" cy="-80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21212"/>
                </a:solidFill>
              </a:rPr>
              <a:t>Mooney images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74289" y="9370314"/>
            <a:ext cx="1389888" cy="65151"/>
          </a:xfrm>
          <a:prstGeom prst="rect">
            <a:avLst/>
          </a:prstGeom>
          <a:solidFill>
            <a:srgbClr val="B9D5BE"/>
          </a:solidFill>
          <a:ln w="6350">
            <a:solidFill>
              <a:srgbClr val="5F8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8297" y="9425178"/>
            <a:ext cx="1298448" cy="-80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21212"/>
                </a:solidFill>
              </a:rPr>
              <a:t>65%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64177" y="9370314"/>
            <a:ext cx="1528876" cy="65151"/>
          </a:xfrm>
          <a:prstGeom prst="rect">
            <a:avLst/>
          </a:prstGeom>
          <a:solidFill>
            <a:srgbClr val="B9D5BE"/>
          </a:solidFill>
          <a:ln w="6350">
            <a:solidFill>
              <a:srgbClr val="5F8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28185" y="9425178"/>
            <a:ext cx="1437436" cy="-80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21212"/>
                </a:solidFill>
              </a:rPr>
              <a:t>~34%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93054" y="9370314"/>
            <a:ext cx="1667865" cy="65151"/>
          </a:xfrm>
          <a:prstGeom prst="rect">
            <a:avLst/>
          </a:prstGeom>
          <a:solidFill>
            <a:srgbClr val="B9D5BE"/>
          </a:solidFill>
          <a:ln w="6350">
            <a:solidFill>
              <a:srgbClr val="5F8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57062" y="9425178"/>
            <a:ext cx="1576425" cy="-80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21212"/>
                </a:solidFill>
              </a:rPr>
              <a:t>VLM &gt; Human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9435465"/>
            <a:ext cx="2362809" cy="65151"/>
          </a:xfrm>
          <a:prstGeom prst="rect">
            <a:avLst/>
          </a:prstGeom>
          <a:solidFill>
            <a:srgbClr val="FFFFFF"/>
          </a:solidFill>
          <a:ln w="6350">
            <a:solidFill>
              <a:srgbClr val="5F8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9490329"/>
            <a:ext cx="2271369" cy="-80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21212"/>
                </a:solidFill>
              </a:rPr>
              <a:t>Dissociation Δ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74289" y="9435465"/>
            <a:ext cx="1389888" cy="65151"/>
          </a:xfrm>
          <a:prstGeom prst="rect">
            <a:avLst/>
          </a:prstGeom>
          <a:solidFill>
            <a:srgbClr val="FFFFFF"/>
          </a:solidFill>
          <a:ln w="6350">
            <a:solidFill>
              <a:srgbClr val="5F8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38297" y="9490329"/>
            <a:ext cx="1298448" cy="-80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21212"/>
                </a:solidFill>
              </a:rPr>
              <a:t>20 pts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64177" y="9435465"/>
            <a:ext cx="1528876" cy="65151"/>
          </a:xfrm>
          <a:prstGeom prst="rect">
            <a:avLst/>
          </a:prstGeom>
          <a:solidFill>
            <a:srgbClr val="FFFFFF"/>
          </a:solidFill>
          <a:ln w="6350">
            <a:solidFill>
              <a:srgbClr val="5F8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28185" y="9490329"/>
            <a:ext cx="1437436" cy="-80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21212"/>
                </a:solidFill>
              </a:rPr>
              <a:t>~16 pts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93054" y="9435465"/>
            <a:ext cx="1667865" cy="65151"/>
          </a:xfrm>
          <a:prstGeom prst="rect">
            <a:avLst/>
          </a:prstGeom>
          <a:solidFill>
            <a:srgbClr val="FFFFFF"/>
          </a:solidFill>
          <a:ln w="6350">
            <a:solidFill>
              <a:srgbClr val="5F8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57062" y="9490329"/>
            <a:ext cx="1576425" cy="-80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21212"/>
                </a:solidFill>
              </a:rPr>
              <a:t>Same direction 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EE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1234440"/>
          </a:xfrm>
          <a:prstGeom prst="rect">
            <a:avLst/>
          </a:prstGeom>
          <a:solidFill>
            <a:srgbClr val="3A5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7772400" cy="50292"/>
          </a:xfrm>
          <a:prstGeom prst="rect">
            <a:avLst/>
          </a:prstGeom>
          <a:solidFill>
            <a:srgbClr val="BE9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4008"/>
            <a:ext cx="7315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Open Questions &amp; Conclusions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217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B9D5BE"/>
                </a:solidFill>
              </a:rPr>
              <a:t>Interpretation  •  Marr's Levels  •  Limitations  • 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765792"/>
            <a:ext cx="7772400" cy="292608"/>
          </a:xfrm>
          <a:prstGeom prst="rect">
            <a:avLst/>
          </a:prstGeom>
          <a:solidFill>
            <a:srgbClr val="3A5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978408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B9D5BE"/>
                </a:solidFill>
              </a:rPr>
              <a:t>Haya Bugshan  •  Mohammad Essa  •  CPSY 1950: Deep Learning in Brains, Minds &amp; Machines  •  Brown University  •  Spring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12748"/>
            <a:ext cx="72237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3A5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12748"/>
            <a:ext cx="7223760" cy="347472"/>
          </a:xfrm>
          <a:prstGeom prst="rect">
            <a:avLst/>
          </a:prstGeom>
          <a:solidFill>
            <a:srgbClr val="5F8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12748"/>
            <a:ext cx="50292" cy="347472"/>
          </a:xfrm>
          <a:prstGeom prst="rect">
            <a:avLst/>
          </a:prstGeom>
          <a:solidFill>
            <a:srgbClr val="BE9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1458468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WHAT THE RESULTS TELL 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897380"/>
            <a:ext cx="694944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121212"/>
                </a:solidFill>
              </a:rPr>
              <a:t>• Dissociation (degraded &gt; Mooney) is present in the predicted direction — consistent with VLMs finding global form completion harder than feature-based matching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21212"/>
                </a:solidFill>
              </a:rPr>
              <a:t>• VLM vision appears predominantly texture/feature-based: succeeds when parts are physically present, struggles when global synthesis is required first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21212"/>
                </a:solidFill>
              </a:rPr>
              <a:t>• Directionally consistent with Marjieh et al. — if VLMs skip the apperceptive stage, Mooney images should specifically expose that gap, and they 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552444"/>
            <a:ext cx="72237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A5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552444"/>
            <a:ext cx="7223760" cy="347472"/>
          </a:xfrm>
          <a:prstGeom prst="rect">
            <a:avLst/>
          </a:prstGeom>
          <a:solidFill>
            <a:srgbClr val="5F8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552444"/>
            <a:ext cx="50292" cy="347472"/>
          </a:xfrm>
          <a:prstGeom prst="rect">
            <a:avLst/>
          </a:prstGeom>
          <a:solidFill>
            <a:srgbClr val="BE9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" y="3598164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CONNECTION TO COURSE THEMES (MARR'S LEVELS)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4037076"/>
            <a:ext cx="2252472" cy="1161288"/>
          </a:xfrm>
          <a:prstGeom prst="rect">
            <a:avLst/>
          </a:prstGeom>
          <a:solidFill>
            <a:srgbClr val="3A5844"/>
          </a:solidFill>
          <a:ln w="12700">
            <a:solidFill>
              <a:srgbClr val="3A5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4091940"/>
            <a:ext cx="21884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Level 1
Computational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4549140"/>
            <a:ext cx="2188464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What is vision for?
Object recognition
from images.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55392" y="4037076"/>
            <a:ext cx="2252472" cy="1161288"/>
          </a:xfrm>
          <a:prstGeom prst="rect">
            <a:avLst/>
          </a:prstGeom>
          <a:solidFill>
            <a:srgbClr val="5F8567"/>
          </a:solidFill>
          <a:ln w="12700">
            <a:solidFill>
              <a:srgbClr val="3A5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01112" y="4091940"/>
            <a:ext cx="21884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Level 2  ★
Algorithmic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1112" y="4549140"/>
            <a:ext cx="2188464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Which stage fails?
Apperceptive vs.
associative.
← THIS PAPER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1872" y="4037076"/>
            <a:ext cx="2252472" cy="1161288"/>
          </a:xfrm>
          <a:prstGeom prst="rect">
            <a:avLst/>
          </a:prstGeom>
          <a:solidFill>
            <a:srgbClr val="B9D5BE"/>
          </a:solidFill>
          <a:ln w="12700">
            <a:solidFill>
              <a:srgbClr val="3A5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17592" y="4091940"/>
            <a:ext cx="21884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3021"/>
                </a:solidFill>
              </a:rPr>
              <a:t>Level 3
Implementation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17592" y="4549140"/>
            <a:ext cx="2188464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3021"/>
                </a:solidFill>
              </a:rPr>
              <a:t>Neural responses
in IT / V4 cortex.
(Brain-Score, Yamins)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463540"/>
            <a:ext cx="72237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A5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5463540"/>
            <a:ext cx="7223760" cy="347472"/>
          </a:xfrm>
          <a:prstGeom prst="rect">
            <a:avLst/>
          </a:prstGeom>
          <a:solidFill>
            <a:srgbClr val="5F8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5463540"/>
            <a:ext cx="50292" cy="347472"/>
          </a:xfrm>
          <a:prstGeom prst="rect">
            <a:avLst/>
          </a:prstGeom>
          <a:solidFill>
            <a:srgbClr val="BE9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2336" y="5509260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948172"/>
            <a:ext cx="69494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121212"/>
                </a:solidFill>
              </a:rPr>
              <a:t>• Mooney stimuli from line drawings, not photographs — reduces blob ambiguity; likely underestimates task difficulty for outline-based objects (glasses, tools)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21212"/>
                </a:solidFill>
              </a:rPr>
              <a:t>• Human baseline (Snodgrass &amp; Corwin, 1988) uses a different fragmentation paradigm — approximate, not directly comparable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21212"/>
                </a:solidFill>
              </a:rPr>
              <a:t>• Only one model tested so far; frontier model comparison (claude-sonnet-4-5, gemini-2.5-pro) pending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21212"/>
                </a:solidFill>
              </a:rPr>
              <a:t>• Substring scoring may overcount correct responses for verbose or hedging outputs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7374636"/>
            <a:ext cx="722376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3A5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7374636"/>
            <a:ext cx="7223760" cy="347472"/>
          </a:xfrm>
          <a:prstGeom prst="rect">
            <a:avLst/>
          </a:prstGeom>
          <a:solidFill>
            <a:srgbClr val="5F8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7374636"/>
            <a:ext cx="50292" cy="347472"/>
          </a:xfrm>
          <a:prstGeom prst="rect">
            <a:avLst/>
          </a:prstGeom>
          <a:solidFill>
            <a:srgbClr val="BE9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2336" y="7420356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7859268"/>
            <a:ext cx="694944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121212"/>
                </a:solidFill>
              </a:rPr>
              <a:t>• Add frontier models (claude-sonnet-4-5, gemini-2.5-pro) for model-to-model comparison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21212"/>
                </a:solidFill>
              </a:rPr>
              <a:t>• Replace line-drawing Mooneys with MoonBase photograph-based stimuli (Tuerlinckx et al.) for a stronger manipulation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21212"/>
                </a:solidFill>
              </a:rPr>
              <a:t>• Post-disambiguation condition: show model the original image first, then the Mooney — does recognition recover? (Mirrors Hegdé et al., 2007)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21212"/>
                </a:solidFill>
              </a:rPr>
              <a:t>• Analyze token logprobs: is model uncertainty higher on Mooney than degraded?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9194292"/>
            <a:ext cx="7223760" cy="443484"/>
          </a:xfrm>
          <a:prstGeom prst="rect">
            <a:avLst/>
          </a:prstGeom>
          <a:solidFill>
            <a:srgbClr val="FFFFFF"/>
          </a:solidFill>
          <a:ln w="19050">
            <a:solidFill>
              <a:srgbClr val="3A5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9194292"/>
            <a:ext cx="7223760" cy="347472"/>
          </a:xfrm>
          <a:prstGeom prst="rect">
            <a:avLst/>
          </a:prstGeom>
          <a:solidFill>
            <a:srgbClr val="5F8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9194292"/>
            <a:ext cx="50292" cy="347472"/>
          </a:xfrm>
          <a:prstGeom prst="rect">
            <a:avLst/>
          </a:prstGeom>
          <a:solidFill>
            <a:srgbClr val="BE9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2336" y="9240012"/>
            <a:ext cx="7040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9678924"/>
            <a:ext cx="6949440" cy="-178308"/>
          </a:xfrm>
          <a:prstGeom prst="rect">
            <a:avLst/>
          </a:prstGeom>
          <a:solidFill>
            <a:srgbClr val="B9D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1208" y="9806940"/>
            <a:ext cx="6766560" cy="-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1C3021"/>
                </a:solidFill>
              </a:rPr>
              <a:t>gemini-3-flash-preview shows the predicted dissociation: degraded &gt; Mooney. This is consistent with VLMs lacking genuine apperceptive completion — the pre-linguistic form assembly step that must precede semantic access in human vision.
Our results provide a behavioral-level account of Marjieh et al.'s null result: if the apperceptive stage is absent, more visual input simply adds more of the same shallow features language already encodes.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