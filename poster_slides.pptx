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5943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268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Do VLMs Use Feedforward or Feedback Visual Processing?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356616"/>
            <a:ext cx="7589520" cy="20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Hayabusa Bugshan  ·  CPSY 1950  ·  Brown University  · 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658368"/>
            <a:ext cx="7315200" cy="822960"/>
          </a:xfrm>
          <a:prstGeom prst="rect">
            <a:avLst/>
          </a:prstGeom>
          <a:solidFill>
            <a:srgbClr val="E8F0F8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694944"/>
            <a:ext cx="70408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2C6FAD"/>
                </a:solidFill>
                <a:latin typeface="Calibri"/>
              </a:rPr>
              <a:t>Hypothesis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905256"/>
            <a:ext cx="70408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VLMs will perform well on degraded line drawings (local features survive) but fail on Mooney images (global completion required) — mirroring their feedforward-only architecture.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554480"/>
            <a:ext cx="352044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" y="158191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The Phenomenon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1901952"/>
            <a:ext cx="3520440" cy="1883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1956816"/>
            <a:ext cx="331012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Humans use top-down feedback: when local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features are sparse, the brain predicts and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completes global form from stored models.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Mooney images (pure B/W blobs) require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gestalt completion — humans fail at first,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then suddenly 'see' it. Once seen, cannot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be un-seen.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1554480"/>
            <a:ext cx="352044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33088" y="158191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Why Test VLMs?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901952"/>
            <a:ext cx="3520440" cy="1883664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1956816"/>
            <a:ext cx="3310128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VLMs process images in a single feedforward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pass — no iterative top-down feedback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during inference.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If recognition requires top-down completion,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VLMs should fail on Mooneys even when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they succeed on degraded drawings of the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same objects.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3858768"/>
            <a:ext cx="731520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3886200"/>
            <a:ext cx="7132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Course Connection — Marr's Levels of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4206240"/>
            <a:ext cx="7315200" cy="1170432"/>
          </a:xfrm>
          <a:prstGeom prst="rect">
            <a:avLst/>
          </a:prstGeom>
          <a:solidFill>
            <a:srgbClr val="FFFFFF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261104"/>
            <a:ext cx="704088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Computational level:  Same goal — identify the object.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Algorithmic level:  Humans use hierarchical inference with top-down feedback.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                         VLMs use feedforward feature matching in one forward pass.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Consistent with Marjieh et al. (2024): visual input adds no perceptual structure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beyond what language priors already capture.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52120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200" b="1" i="0">
                <a:solidFill>
                  <a:srgbClr val="222222"/>
                </a:solidFill>
                <a:latin typeface="Calibri"/>
              </a:rPr>
              <a:t>Original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52120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200" b="1" i="0">
                <a:solidFill>
                  <a:srgbClr val="222222"/>
                </a:solidFill>
                <a:latin typeface="Calibri"/>
              </a:rPr>
              <a:t>Mooney (σ=2.0)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212080"/>
            <a:ext cx="23317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200" b="1" i="0">
                <a:solidFill>
                  <a:srgbClr val="222222"/>
                </a:solidFill>
                <a:latin typeface="Calibri"/>
              </a:rPr>
              <a:t>Hard Mooney (σ=4.0)</a:t>
            </a:r>
          </a:p>
        </p:txBody>
      </p:sp>
      <p:pic>
        <p:nvPicPr>
          <p:cNvPr id="23" name="Picture 22" descr="ti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449824"/>
            <a:ext cx="2331720" cy="2377440"/>
          </a:xfrm>
          <a:prstGeom prst="rect">
            <a:avLst/>
          </a:prstGeom>
        </p:spPr>
      </p:pic>
      <p:pic>
        <p:nvPicPr>
          <p:cNvPr id="24" name="Picture 23" descr="ti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5449824"/>
            <a:ext cx="2331720" cy="2377440"/>
          </a:xfrm>
          <a:prstGeom prst="rect">
            <a:avLst/>
          </a:prstGeom>
        </p:spPr>
      </p:pic>
      <p:pic>
        <p:nvPicPr>
          <p:cNvPr id="25" name="Picture 24" descr="tig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5449824"/>
            <a:ext cx="2331720" cy="237744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28600" y="78638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Tiger: Original → Standard Mooney (both wrong: 'wolf'/'pig') → Hard Mooney (both wrong: 'cow'/'cow')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9802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"/>
              </a:spcBef>
            </a:pPr>
            <a:r>
              <a:rPr sz="1000" b="0" i="0">
                <a:solidFill>
                  <a:srgbClr val="AAAAAA"/>
                </a:solidFill>
                <a:latin typeface="Calibri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Methods</a:t>
            </a:r>
          </a:p>
        </p:txBody>
      </p:sp>
      <p:pic>
        <p:nvPicPr>
          <p:cNvPr id="4" name="Picture 3" descr="fig0_stimulus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66928"/>
            <a:ext cx="731520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3520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Figure 0. Stimulus examples. Green = both models correct. Red = both models wrong.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822191"/>
            <a:ext cx="731520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3849624"/>
            <a:ext cx="7132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4169663"/>
            <a:ext cx="7315200" cy="2670048"/>
          </a:xfrm>
          <a:prstGeom prst="rect">
            <a:avLst/>
          </a:prstGeom>
          <a:solidFill>
            <a:srgbClr val="FFFFFF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4224528"/>
            <a:ext cx="7040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Stimuli:    260 Snodgrass &amp; Vanderwart (1980) canonical B&amp;W line drawings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Models:   claude-sonnet-4-5 (Anthropic)  ·  gpt-5.4 (OpenAI)  via Brown CCV LiteLLM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Trials:      4,160 total  ·  Checkpointed after every trial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Exp 1 — 6 conditions:  Degraded 25/50/75/90%  ·  Standard Mooney (σ=2.0)  ·  Inverted Mooney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Exp 2 — 2 conditions:  Hard Mooney unprimed (σ=4.0)  ·  Hard Mooney primed (degraded_25 first)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/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Prompt:   "Respond with only the name of the object — a single word or short noun phrase."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Scoring:   Exact match + synonym dictionary (12 entries) + hallucination guard (&gt;8 words → wrong)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6876288"/>
            <a:ext cx="731520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" y="6903720"/>
            <a:ext cx="7132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Confound Controls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7223760"/>
            <a:ext cx="7315200" cy="18288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7278624"/>
            <a:ext cx="704088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Contamination:      Inverted Mooney (B/W flipped) — small drop rules out training data memorization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Language priors:   Identical prompt across all conditions and both models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Reproducibility:    Fixed random seed (42)  ·  Full code on GitHub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Human baselines:   Snodgrass &amp; Corwin (1988)  ·  Moore &amp; Cavanagh (1998)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9802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"/>
              </a:spcBef>
            </a:pPr>
            <a:r>
              <a:rPr sz="1000" b="0" i="0">
                <a:solidFill>
                  <a:srgbClr val="AAAAAA"/>
                </a:solidFill>
                <a:latin typeface="Calibri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66928"/>
            <a:ext cx="7315200" cy="502920"/>
          </a:xfrm>
          <a:prstGeom prst="rect">
            <a:avLst/>
          </a:prstGeom>
          <a:solidFill>
            <a:srgbClr val="E8F0F8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612648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300" b="1" i="0">
                <a:solidFill>
                  <a:srgbClr val="1A3A5C"/>
                </a:solidFill>
                <a:latin typeface="Calibri"/>
              </a:rPr>
              <a:t>Exp 1 Mooney:  Claude 82%  ·  GPT 80%  ·  Human 34%     |     Exp 2 Unprimed:  Claude 27%  ·  GPT 22%  ·  Human ~20%     |     Priming boost:  Claude +53%  ·  GPT +67%  ·  Human ~+45%</a:t>
            </a:r>
          </a:p>
        </p:txBody>
      </p:sp>
      <p:pic>
        <p:nvPicPr>
          <p:cNvPr id="6" name="Picture 5" descr="fig1_exp1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133856"/>
            <a:ext cx="7315200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42245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Figure 1. Experiment 1: Accuracy across all conditions vs. human baselines (Snodgrass &amp; Corwin, 1988).</a:t>
            </a:r>
          </a:p>
        </p:txBody>
      </p:sp>
      <p:pic>
        <p:nvPicPr>
          <p:cNvPr id="8" name="Picture 7" descr="fig2_priming_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4535424"/>
            <a:ext cx="7315200" cy="34930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28600" y="806500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Figure 2. Experiment 2: Primed vs. unprimed hard Mooney and priming boost vs. human expectation (Moore &amp; Cavanagh, 1998).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9802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"/>
              </a:spcBef>
            </a:pPr>
            <a:r>
              <a:rPr sz="1000" b="0" i="0">
                <a:solidFill>
                  <a:srgbClr val="AAAAAA"/>
                </a:solidFill>
                <a:latin typeface="Calibri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Open Questions &amp; Conclusions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566928"/>
            <a:ext cx="7315200" cy="1280160"/>
          </a:xfrm>
          <a:prstGeom prst="rect">
            <a:avLst/>
          </a:prstGeom>
          <a:solidFill>
            <a:srgbClr val="F0F4F8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3093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2C6FAD"/>
                </a:solidFill>
                <a:latin typeface="Calibri"/>
              </a:rPr>
              <a:t>Finding 1 — Feedforward shortcut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950976"/>
            <a:ext cx="7040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VLMs exceed humans on degraded drawings at every level. At 90% degradation, GPT scores 80% vs. ~15% human. Feedforward feature matching does not require global form completion.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938528"/>
            <a:ext cx="7315200" cy="1280160"/>
          </a:xfrm>
          <a:prstGeom prst="rect">
            <a:avLst/>
          </a:prstGeom>
          <a:solidFill>
            <a:srgbClr val="E8F0F8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00253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2C6FAD"/>
                </a:solidFill>
                <a:latin typeface="Calibri"/>
              </a:rPr>
              <a:t>Finding 2 — Mooney difficulty is stimulus-dependent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2576"/>
            <a:ext cx="7040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Standard Mooney: ~80% vs. 34% human — S&amp;V silhouettes survive thresholding. Hard Mooney (σ=4.0) drops unprimed to human levels: 27% (Claude) / 22% (GPT).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" y="3310128"/>
            <a:ext cx="7315200" cy="1280160"/>
          </a:xfrm>
          <a:prstGeom prst="rect">
            <a:avLst/>
          </a:prstGeom>
          <a:solidFill>
            <a:srgbClr val="E8F4E8"/>
          </a:solidFill>
          <a:ln w="19050">
            <a:solidFill>
              <a:srgbClr val="1A6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3374136"/>
            <a:ext cx="7040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400" b="1" i="0">
                <a:solidFill>
                  <a:srgbClr val="1A6B2A"/>
                </a:solidFill>
                <a:latin typeface="Calibri"/>
              </a:rPr>
              <a:t>Finding 3 — Priming ≠ perceptual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94176"/>
            <a:ext cx="704088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Both models show +53–67% priming boost — larger than humans' ~+45%. But both images are in one forward pass: in-context co-matching, not top-down perceptual memory.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" y="4700016"/>
            <a:ext cx="7315200" cy="347472"/>
          </a:xfrm>
          <a:prstGeom prst="rect">
            <a:avLst/>
          </a:prstGeom>
          <a:solidFill>
            <a:srgbClr val="2C6F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" y="4727448"/>
            <a:ext cx="7132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Marr's Levels — Prediction vs. Understanding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5047488"/>
            <a:ext cx="7315200" cy="960120"/>
          </a:xfrm>
          <a:prstGeom prst="rect">
            <a:avLst/>
          </a:prstGeom>
          <a:solidFill>
            <a:srgbClr val="FFFFFF"/>
          </a:solidFill>
          <a:ln w="19050">
            <a:solidFill>
              <a:srgbClr val="2C6F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5102352"/>
            <a:ext cx="7040880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Same computational goal. Different algorithm. Aggregate accuracy can look identical while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mechanisms are fundamentally different.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Consistent with Marjieh et al. (2024): VLMs predict labels without perceptual understanding.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6080760"/>
            <a:ext cx="3520440" cy="347472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" y="610819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Limitations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6428232"/>
            <a:ext cx="3520440" cy="14447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6483096"/>
            <a:ext cx="331012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Priming within one API call — not true memory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S&amp;V silhouettes reduce Mooney difficulty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Human baselines: different degradation method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6080760"/>
            <a:ext cx="3520440" cy="347472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33088" y="610819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We'd Do Next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6428232"/>
            <a:ext cx="3520440" cy="1444752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42232" y="6483096"/>
            <a:ext cx="3310128" cy="133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Separate-call priming (true memory test)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Face Mooneys (non-diagnostic silhouettes)</a:t>
            </a:r>
          </a:p>
          <a:p>
            <a:pPr algn="l">
              <a:spcBef>
                <a:spcPts val="200"/>
              </a:spcBef>
            </a:pPr>
            <a:r>
              <a:rPr sz="1500" b="0" i="0">
                <a:solidFill>
                  <a:srgbClr val="222222"/>
                </a:solidFill>
                <a:latin typeface="Calibri"/>
              </a:rPr>
              <a:t>·  Explain Claude vs. GPT gap at 90% degradation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9802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"/>
              </a:spcBef>
            </a:pPr>
            <a:r>
              <a:rPr sz="1000" b="0" i="0">
                <a:solidFill>
                  <a:srgbClr val="AAAAAA"/>
                </a:solidFill>
                <a:latin typeface="Calibri"/>
              </a:rPr>
              <a:t>4 /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64008"/>
            <a:ext cx="7589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Appendix — Supplementary Analysis</a:t>
            </a:r>
          </a:p>
        </p:txBody>
      </p:sp>
      <p:pic>
        <p:nvPicPr>
          <p:cNvPr id="4" name="Picture 3" descr="fig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566928"/>
            <a:ext cx="73152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470916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Figure 4. Per-object dissociation: degraded 90% vs. Mooney accuracy (N=260, avg. both models).</a:t>
            </a:r>
          </a:p>
        </p:txBody>
      </p:sp>
      <p:pic>
        <p:nvPicPr>
          <p:cNvPr id="6" name="Picture 5" descr="fig3_error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5010912"/>
            <a:ext cx="73152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28600" y="824788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100" b="0" i="1">
                <a:solidFill>
                  <a:srgbClr val="555555"/>
                </a:solidFill>
                <a:latin typeface="Calibri"/>
              </a:rPr>
              <a:t>Figure 3. Error type distribution. Confabulation dominates — unrelated objects, not semantic neighbors.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802368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200"/>
              </a:spcBef>
            </a:pPr>
            <a:r>
              <a:rPr sz="1000" b="0" i="0">
                <a:solidFill>
                  <a:srgbClr val="AAAAAA"/>
                </a:solidFill>
                <a:latin typeface="Calibri"/>
              </a:rPr>
              <a:t>Appendix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Speaker Script — Slide 1: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11479"/>
            <a:ext cx="7589520" cy="24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~45 seconds  ·  Use as a guide — do not read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We're testing whether VLMs process images the way humans do — specifically whether they use top-down feedback or pure feedforward feature matching.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The Mooney image is our key tool. Humans can't identify it at first — until the visual system completes the global form. VLMs don't have that feedback loop.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6887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Hypothesis: VLMs will do fine on degraded drawings where local features survive, but fail on Mooneys where global completion is required.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9183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This connects to Marr's levels — same computational goal, potentially very different algorithm.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069080"/>
            <a:ext cx="731520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51376"/>
            <a:ext cx="7040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7A5C00"/>
                </a:solidFill>
                <a:latin typeface="Calibri"/>
              </a:rPr>
              <a:t>⚡  Point at the tiger: 'Both models got this wrong — one said wolf, one said pig.'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Speaker Script — Slide 2: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11479"/>
            <a:ext cx="7589520" cy="24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~45 seconds  ·  Use as a guide — do not read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260 Snodgrass and Vanderwart line drawings — the canonical stimulus set from the human agnosia literature, enabling direct comparison to published norms.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Experiment 1: six conditions — four degradation levels, standard Mooney, inverted Mooney as contamination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6887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Experiment 2: harder Mooneys with stronger blur, tested with and without a priming image first.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9183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Both models got identical prompts — controls for language priors. 4,160 total trials, saved after every one.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069080"/>
            <a:ext cx="731520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51376"/>
            <a:ext cx="7040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7A5C00"/>
                </a:solidFill>
                <a:latin typeface="Calibri"/>
              </a:rPr>
              <a:t>⚡  Emphasize: identical prompt for all conditions is the key confound control.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Speaker Script — Slide 3: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11479"/>
            <a:ext cx="7589520" cy="24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~45 seconds  ·  Use as a guide — do not read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First — both models beat humans on degraded drawings at every level. Consistent with feedforward feature matching.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Second — standard Mooney ~80% vs. 34% human. S&amp;V silhouettes survive thresholding. No global completion needed for banana, tiger, airplane.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6887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Third — harder blur drops unprimed to human levels: 27% and 22%. Priming jumps accuracy over 80% — bigger boost than humans get.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246120"/>
            <a:ext cx="731520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328415"/>
            <a:ext cx="7040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7A5C00"/>
                </a:solidFill>
                <a:latin typeface="Calibri"/>
              </a:rPr>
              <a:t>⚡  Point at Fig 1 first, then Fig 2. Stress: unprimed drops to human level = shortcut eliminated.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Speaker Script — Slide 4: 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11479"/>
            <a:ext cx="7589520" cy="24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~45 seconds  ·  Use as a guide — do not read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One: feedforward feature matching explains VLM performance — surviving pixels are enough, no global form needed.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Two: hard Mooneys fix the difficulty issue — unprimed drops to human levels. Standard Mooneys were too easy due to distinctive S&amp;V silhouettes.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6887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Three: the priming boost looks human-like but comes from a different mechanism — both images are in one forward pass, not separate viewings.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" y="329183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Marr's levels in action: same output, different algorithm. VLMs predict the label without building a perceptual representation.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069080"/>
            <a:ext cx="731520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4151376"/>
            <a:ext cx="7040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7A5C00"/>
                </a:solidFill>
                <a:latin typeface="Calibri"/>
              </a:rPr>
              <a:t>⚡  Be ready for: 'Is priming really different from what humans do?'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772400" cy="685800"/>
          </a:xfrm>
          <a:prstGeom prst="rect">
            <a:avLst/>
          </a:prstGeom>
          <a:solidFill>
            <a:srgbClr val="2C2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36576"/>
            <a:ext cx="7589520" cy="377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700" b="1" i="0">
                <a:solidFill>
                  <a:srgbClr val="FFFFFF"/>
                </a:solidFill>
                <a:latin typeface="Calibri"/>
              </a:rPr>
              <a:t>Speaker Script — Slide 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11479"/>
            <a:ext cx="7589520" cy="2400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200"/>
              </a:spcBef>
            </a:pPr>
            <a:r>
              <a:rPr sz="1100" b="0" i="0">
                <a:solidFill>
                  <a:srgbClr val="C8DDF0"/>
                </a:solidFill>
                <a:latin typeface="Calibri"/>
              </a:rPr>
              <a:t>~45 seconds  ·  Use as a guide — do not read verbatim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82296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Only reference if asked during Q&amp;A.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45920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Figure 4: each dot is one of 260 objects. Points below the diagonal scored higher on degraded 90% than Mooney — the feedforward shortcut at item level.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2468879"/>
            <a:ext cx="73152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0" i="0">
                <a:solidFill>
                  <a:srgbClr val="222222"/>
                </a:solidFill>
                <a:latin typeface="Calibri"/>
              </a:rPr>
              <a:t>Figure 3: nearly all errors are confabulation — completely unrelated objects, not semantic neighbors. Perceptual failure, not semantic retrieval failure.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246120"/>
            <a:ext cx="7315200" cy="713232"/>
          </a:xfrm>
          <a:prstGeom prst="rect">
            <a:avLst/>
          </a:prstGeom>
          <a:solidFill>
            <a:srgbClr val="FFF8E1"/>
          </a:solidFill>
          <a:ln w="19050">
            <a:solidFill>
              <a:srgbClr val="F0C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328415"/>
            <a:ext cx="704088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200"/>
              </a:spcBef>
            </a:pPr>
            <a:r>
              <a:rPr sz="1600" b="1" i="0">
                <a:solidFill>
                  <a:srgbClr val="7A5C00"/>
                </a:solidFill>
                <a:latin typeface="Calibri"/>
              </a:rPr>
              <a:t>⚡  Use if asked: 'Can you show individual objects?' or 'What kinds of errors?'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